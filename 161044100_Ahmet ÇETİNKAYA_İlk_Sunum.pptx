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67" r:id="rId4"/>
    <p:sldId id="275" r:id="rId5"/>
    <p:sldId id="277" r:id="rId6"/>
    <p:sldId id="276" r:id="rId7"/>
    <p:sldId id="269" r:id="rId8"/>
    <p:sldId id="270" r:id="rId9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08E34"/>
    <a:srgbClr val="FFFFCC"/>
    <a:srgbClr val="050121"/>
    <a:srgbClr val="333333"/>
    <a:srgbClr val="580000"/>
    <a:srgbClr val="969696"/>
    <a:srgbClr val="DDDDDD"/>
    <a:srgbClr val="FEDAD6"/>
    <a:srgbClr val="5D093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444" autoAdjust="0"/>
    <p:restoredTop sz="94660"/>
  </p:normalViewPr>
  <p:slideViewPr>
    <p:cSldViewPr>
      <p:cViewPr varScale="1">
        <p:scale>
          <a:sx n="68" d="100"/>
          <a:sy n="68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410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2B237D-9950-4EB0-91B3-0FEC519831C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22325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0A91FC6-3D07-4992-B64E-8B2198E1DD7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2496516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5DFD33A-21C6-4B9C-9B8B-CD137966CD27}" type="slidenum">
              <a:rPr lang="tr-TR" altLang="en-US"/>
              <a:pPr>
                <a:spcBef>
                  <a:spcPct val="0"/>
                </a:spcBef>
              </a:pPr>
              <a:t>1</a:t>
            </a:fld>
            <a:endParaRPr lang="tr-TR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4B167137-106F-4911-9F48-D7586CE25DE7}" type="slidenum">
              <a:rPr lang="tr-TR" altLang="en-US"/>
              <a:pPr>
                <a:spcBef>
                  <a:spcPct val="0"/>
                </a:spcBef>
              </a:pPr>
              <a:t>2</a:t>
            </a:fld>
            <a:endParaRPr lang="tr-TR" altLang="en-US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/>
          <p:cNvSpPr txBox="1">
            <a:spLocks noChangeArrowheads="1"/>
          </p:cNvSpPr>
          <p:nvPr userDrawn="1"/>
        </p:nvSpPr>
        <p:spPr bwMode="auto"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000" b="1">
                <a:solidFill>
                  <a:srgbClr val="FFFFCC"/>
                </a:solidFill>
                <a:latin typeface="Tahoma" pitchFamily="34" charset="0"/>
              </a:rPr>
              <a:t>Bilgisayar Mühendisliği Bölümü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9012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pic>
        <p:nvPicPr>
          <p:cNvPr id="11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1" y="57150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9752"/>
            <a:ext cx="2786738" cy="174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2639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EA505-76AA-495E-815C-8AF94549A6BB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65808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dirty="0"/>
              <a:t>As</a:t>
            </a:r>
            <a:r>
              <a:rPr lang="en-US" dirty="0"/>
              <a:t>I</a:t>
            </a:r>
            <a:r>
              <a:rPr lang="tr-TR" dirty="0"/>
              <a:t>l başl</a:t>
            </a:r>
            <a:r>
              <a:rPr lang="en-US" dirty="0"/>
              <a:t>I</a:t>
            </a:r>
            <a:r>
              <a:rPr lang="tr-TR" dirty="0"/>
              <a:t>k st</a:t>
            </a:r>
            <a:r>
              <a:rPr lang="en-US" dirty="0"/>
              <a:t>İ</a:t>
            </a:r>
            <a:r>
              <a:rPr lang="tr-TR" dirty="0"/>
              <a:t>l</a:t>
            </a:r>
            <a:r>
              <a:rPr lang="en-US" dirty="0"/>
              <a:t>İ</a:t>
            </a:r>
            <a:r>
              <a:rPr lang="tr-TR" dirty="0"/>
              <a:t> </a:t>
            </a:r>
            <a:r>
              <a:rPr lang="en-US" dirty="0"/>
              <a:t>İ</a:t>
            </a:r>
            <a:r>
              <a:rPr lang="tr-TR" dirty="0"/>
              <a:t>ç</a:t>
            </a:r>
            <a:r>
              <a:rPr lang="en-US" dirty="0"/>
              <a:t>İ</a:t>
            </a:r>
            <a:r>
              <a:rPr lang="tr-TR" dirty="0"/>
              <a:t>n t</a:t>
            </a:r>
            <a:r>
              <a:rPr lang="en-US" dirty="0"/>
              <a:t>I</a:t>
            </a:r>
            <a:r>
              <a:rPr lang="tr-TR" dirty="0"/>
              <a:t>klat</a:t>
            </a:r>
            <a:r>
              <a:rPr lang="en-US" dirty="0"/>
              <a:t>I</a:t>
            </a:r>
            <a:r>
              <a:rPr lang="tr-TR" dirty="0"/>
              <a:t>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4D7A41-DB7E-4B7C-B1E7-203553C448B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245320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E408D4-2E9F-4A26-A3CA-FB0C52E2551E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303787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3EE2D-B193-4DF7-8E07-E2831ABD391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4144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0A55CB-0D82-4FA8-8283-1D0C577030E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4037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E3BFC5-E015-41F6-9033-8F7EE7066BAD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409650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9A257-28E3-40ED-A2ED-369606B291D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196285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9FACF8-D009-4AE7-A9E5-7C11E06AD1D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257693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EBBE5D-72DA-403E-982F-97DD55B3986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81134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81800" y="106363"/>
            <a:ext cx="2209800" cy="6218237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" y="106363"/>
            <a:ext cx="6477000" cy="621823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C3EE3-4607-44C8-828A-37A7AE25514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143115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6363"/>
            <a:ext cx="8534400" cy="579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795CC5-F219-49B7-9754-EF0E854EBEB8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xmlns="" val="18137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Click to edit Master text styles</a:t>
            </a:r>
          </a:p>
          <a:p>
            <a:pPr lvl="1"/>
            <a:r>
              <a:rPr lang="tr-TR" altLang="en-US" dirty="0"/>
              <a:t>Second level</a:t>
            </a:r>
          </a:p>
          <a:p>
            <a:pPr lvl="2"/>
            <a:r>
              <a:rPr lang="tr-TR" altLang="en-US" dirty="0"/>
              <a:t>Third level</a:t>
            </a:r>
          </a:p>
          <a:p>
            <a:pPr lvl="3"/>
            <a:r>
              <a:rPr lang="tr-TR" altLang="en-US" dirty="0"/>
              <a:t>Fourth level</a:t>
            </a:r>
          </a:p>
          <a:p>
            <a:pPr lvl="4"/>
            <a:r>
              <a:rPr lang="tr-TR" altLang="en-US" dirty="0"/>
              <a:t>Fifth level</a:t>
            </a:r>
          </a:p>
        </p:txBody>
      </p:sp>
      <p:sp>
        <p:nvSpPr>
          <p:cNvPr id="35890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457200" cy="7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FFFFE5"/>
                </a:solidFill>
              </a:defRPr>
            </a:lvl1pPr>
          </a:lstStyle>
          <a:p>
            <a:fld id="{68795CC5-F219-49B7-9754-EF0E854EBEB8}" type="slidenum">
              <a:rPr lang="tr-TR" altLang="en-US"/>
              <a:pPr/>
              <a:t>‹#›</a:t>
            </a:fld>
            <a:endParaRPr lang="tr-TR" altLang="en-US"/>
          </a:p>
        </p:txBody>
      </p:sp>
      <p:sp>
        <p:nvSpPr>
          <p:cNvPr id="1030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3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06363"/>
            <a:ext cx="784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Başlık</a:t>
            </a:r>
          </a:p>
        </p:txBody>
      </p:sp>
      <p:sp>
        <p:nvSpPr>
          <p:cNvPr id="3" name="Text Box 68"/>
          <p:cNvSpPr txBox="1">
            <a:spLocks noChangeArrowheads="1"/>
          </p:cNvSpPr>
          <p:nvPr userDrawn="1"/>
        </p:nvSpPr>
        <p:spPr bwMode="auto">
          <a:xfrm>
            <a:off x="1447800" y="6536422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GT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Ü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-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Bilgisayar Mühendisliği Bölümü</a:t>
            </a:r>
          </a:p>
        </p:txBody>
      </p:sp>
      <p:pic>
        <p:nvPicPr>
          <p:cNvPr id="1039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793" y="5867400"/>
            <a:ext cx="985007" cy="98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3955"/>
            <a:ext cx="1110043" cy="69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68"/>
          <p:cNvSpPr txBox="1">
            <a:spLocks noChangeArrowheads="1"/>
          </p:cNvSpPr>
          <p:nvPr userDrawn="1"/>
        </p:nvSpPr>
        <p:spPr bwMode="auto">
          <a:xfrm>
            <a:off x="4572000" y="6529000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BİL 495/496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Bitirme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Projesi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endParaRPr lang="tr-T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Batang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apbox.com/android/maps/overview" TargetMode="External"/><Relationship Id="rId2" Type="http://schemas.openxmlformats.org/officeDocument/2006/relationships/hyperlink" Target="https://doi.org/10.1007/BF0339863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manticscholar.org/author/Rohit-Tanwar/1970056" TargetMode="External"/><Relationship Id="rId5" Type="http://schemas.openxmlformats.org/officeDocument/2006/relationships/hyperlink" Target="https://www.semanticscholar.org/author/Samiksha-Agarwal/9316886" TargetMode="External"/><Relationship Id="rId4" Type="http://schemas.openxmlformats.org/officeDocument/2006/relationships/hyperlink" Target="https://www.semanticscholar.org/author/Khushboo-Arora/90825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2209800"/>
            <a:ext cx="8763000" cy="1524000"/>
          </a:xfrm>
        </p:spPr>
        <p:txBody>
          <a:bodyPr/>
          <a:lstStyle/>
          <a:p>
            <a:pPr eaLnBrk="1" hangingPunct="1"/>
            <a:r>
              <a:rPr lang="tr-TR" altLang="en-US" sz="3600" dirty="0"/>
              <a:t>Travel Route Optimization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10000"/>
            <a:ext cx="64008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BIL 496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İlk Sunum</a:t>
            </a:r>
            <a:endParaRPr lang="en-US" altLang="en-US" sz="2000" b="1" dirty="0"/>
          </a:p>
          <a:p>
            <a:pPr eaLnBrk="1" hangingPunct="1">
              <a:lnSpc>
                <a:spcPct val="80000"/>
              </a:lnSpc>
            </a:pPr>
            <a:endParaRPr lang="tr-TR" altLang="en-US" sz="1400" dirty="0"/>
          </a:p>
          <a:p>
            <a:pPr eaLnBrk="1" hangingPunct="1">
              <a:lnSpc>
                <a:spcPct val="80000"/>
              </a:lnSpc>
            </a:pPr>
            <a:endParaRPr lang="tr-TR" altLang="en-US" sz="1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dirty="0"/>
              <a:t>Ahmet </a:t>
            </a:r>
            <a:r>
              <a:rPr lang="tr-TR" altLang="en-US" sz="2000" b="1" dirty="0"/>
              <a:t>ÇETİNKAYA</a:t>
            </a:r>
          </a:p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1800" b="1" dirty="0"/>
              <a:t>DR.Gökhan KAYA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1800" b="1" dirty="0"/>
              <a:t>Ekim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79C4B9-F984-4206-AFD2-FD0541FAF3C1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tr-TR" altLang="en-US" sz="1000">
              <a:solidFill>
                <a:srgbClr val="FFFFE5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7467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 sz="2400" dirty="0"/>
              <a:t>Projenin Şeması ve Tanımı</a:t>
            </a:r>
          </a:p>
          <a:p>
            <a:pPr eaLnBrk="1" hangingPunct="1">
              <a:lnSpc>
                <a:spcPct val="90000"/>
              </a:lnSpc>
            </a:pPr>
            <a:endParaRPr lang="tr-TR" altLang="en-US" sz="2400" dirty="0"/>
          </a:p>
          <a:p>
            <a:pPr eaLnBrk="1" hangingPunct="1">
              <a:lnSpc>
                <a:spcPct val="90000"/>
              </a:lnSpc>
            </a:pPr>
            <a:r>
              <a:rPr lang="tr-TR" altLang="en-US" sz="2400" dirty="0"/>
              <a:t>Proje Tasarım Planı</a:t>
            </a:r>
          </a:p>
          <a:p>
            <a:pPr eaLnBrk="1" hangingPunct="1">
              <a:lnSpc>
                <a:spcPct val="90000"/>
              </a:lnSpc>
            </a:pPr>
            <a:endParaRPr lang="tr-TR" altLang="en-US" sz="2400" dirty="0"/>
          </a:p>
          <a:p>
            <a:pPr eaLnBrk="1" hangingPunct="1">
              <a:lnSpc>
                <a:spcPct val="90000"/>
              </a:lnSpc>
            </a:pPr>
            <a:r>
              <a:rPr lang="tr-TR" altLang="en-US" sz="2400" dirty="0"/>
              <a:t>Proje Gereksinimleri</a:t>
            </a:r>
          </a:p>
          <a:p>
            <a:pPr eaLnBrk="1" hangingPunct="1">
              <a:lnSpc>
                <a:spcPct val="90000"/>
              </a:lnSpc>
            </a:pPr>
            <a:endParaRPr lang="tr-TR" altLang="en-US" sz="2400" dirty="0"/>
          </a:p>
          <a:p>
            <a:pPr eaLnBrk="1" hangingPunct="1">
              <a:lnSpc>
                <a:spcPct val="90000"/>
              </a:lnSpc>
            </a:pPr>
            <a:r>
              <a:rPr lang="tr-TR" altLang="en-US" sz="2400" dirty="0"/>
              <a:t>Başarı Kriterleri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tr-TR" altLang="en-US" sz="2400" dirty="0"/>
          </a:p>
          <a:p>
            <a:pPr eaLnBrk="1" hangingPunct="1">
              <a:lnSpc>
                <a:spcPct val="90000"/>
              </a:lnSpc>
            </a:pPr>
            <a:r>
              <a:rPr lang="tr-TR" altLang="en-US" sz="2400" dirty="0"/>
              <a:t>Kaynaklar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İçerik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ED054F-FB0B-4F9F-8508-286B83CB129D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Proje Şeması ve Tanımı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571472" y="1000108"/>
            <a:ext cx="7643866" cy="3429000"/>
          </a:xfrm>
          <a:noFill/>
        </p:spPr>
        <p:txBody>
          <a:bodyPr/>
          <a:lstStyle/>
          <a:p>
            <a:pPr marL="447675" indent="-447675" eaLnBrk="1" hangingPunct="1">
              <a:lnSpc>
                <a:spcPct val="80000"/>
              </a:lnSpc>
            </a:pPr>
            <a:r>
              <a:rPr lang="tr-TR" altLang="ko-KR" sz="2400" dirty="0"/>
              <a:t>Proje nedir?</a:t>
            </a:r>
          </a:p>
          <a:p>
            <a:pPr marL="847725" lvl="1" indent="-447675" eaLnBrk="1" hangingPunct="1">
              <a:lnSpc>
                <a:spcPct val="80000"/>
              </a:lnSpc>
            </a:pPr>
            <a:endParaRPr lang="tr-TR" altLang="ko-KR" sz="2000" dirty="0"/>
          </a:p>
          <a:p>
            <a:pPr lvl="1" eaLnBrk="1" hangingPunct="1"/>
            <a:r>
              <a:rPr lang="tr-TR" altLang="en-US" sz="2000" dirty="0" smtClean="0"/>
              <a:t>Proje, kullanıcıların yolculuk rotalarını en uygun şekilde planlamayı ve en az maliyet ile hesaplamayı ve bu rotayı mobil uygulama ile kullanıcıya sunmayı  amaçlamaktadır</a:t>
            </a:r>
            <a:r>
              <a:rPr lang="tr-TR" altLang="en-US" sz="2000" dirty="0" smtClean="0"/>
              <a:t>.</a:t>
            </a:r>
          </a:p>
          <a:p>
            <a:pPr lvl="1" eaLnBrk="1" hangingPunct="1">
              <a:buNone/>
            </a:pPr>
            <a:endParaRPr lang="tr-TR" altLang="en-US" sz="2000" dirty="0" smtClean="0"/>
          </a:p>
          <a:p>
            <a:pPr lvl="1" eaLnBrk="1" hangingPunct="1"/>
            <a:r>
              <a:rPr lang="tr-TR" altLang="en-US" sz="2000" dirty="0" smtClean="0"/>
              <a:t>Proje rota hesaplama için bir algoritma, bir </a:t>
            </a:r>
            <a:r>
              <a:rPr lang="tr-TR" altLang="en-US" sz="2000" dirty="0" err="1" smtClean="0"/>
              <a:t>android</a:t>
            </a:r>
            <a:r>
              <a:rPr lang="tr-TR" altLang="en-US" sz="2000" dirty="0" smtClean="0"/>
              <a:t> uygulama ve bunlar için gerekli web servisleri içermektedir.</a:t>
            </a:r>
            <a:endParaRPr lang="tr-TR" altLang="en-US" sz="2400" dirty="0"/>
          </a:p>
        </p:txBody>
      </p:sp>
      <p:sp>
        <p:nvSpPr>
          <p:cNvPr id="9221" name="Rectangle 7"/>
          <p:cNvSpPr>
            <a:spLocks noChangeArrowheads="1"/>
          </p:cNvSpPr>
          <p:nvPr/>
        </p:nvSpPr>
        <p:spPr bwMode="auto">
          <a:xfrm>
            <a:off x="304800" y="4724400"/>
            <a:ext cx="441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tr-TR" altLang="en-US" sz="2800" dirty="0"/>
          </a:p>
        </p:txBody>
      </p:sp>
      <p:sp>
        <p:nvSpPr>
          <p:cNvPr id="9222" name="Rectangle 8"/>
          <p:cNvSpPr>
            <a:spLocks noChangeArrowheads="1"/>
          </p:cNvSpPr>
          <p:nvPr/>
        </p:nvSpPr>
        <p:spPr bwMode="auto">
          <a:xfrm>
            <a:off x="304800" y="4530736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/>
              <a:t>Proje Tasarım Planı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159000" y="3124200"/>
            <a:ext cx="441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xmlns="" id="{598B3886-6017-4EA2-98EA-95BAA922E835}"/>
              </a:ext>
            </a:extLst>
          </p:cNvPr>
          <p:cNvSpPr/>
          <p:nvPr/>
        </p:nvSpPr>
        <p:spPr bwMode="auto">
          <a:xfrm>
            <a:off x="304800" y="3048000"/>
            <a:ext cx="381000" cy="381000"/>
          </a:xfrm>
          <a:prstGeom prst="smileyF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EF7557C5-BDBD-4CDB-921B-18FCBCD62C29}"/>
              </a:ext>
            </a:extLst>
          </p:cNvPr>
          <p:cNvCxnSpPr/>
          <p:nvPr/>
        </p:nvCxnSpPr>
        <p:spPr bwMode="auto">
          <a:xfrm>
            <a:off x="762000" y="3248378"/>
            <a:ext cx="685800" cy="0"/>
          </a:xfrm>
          <a:prstGeom prst="straightConnector1">
            <a:avLst/>
          </a:prstGeom>
          <a:solidFill>
            <a:srgbClr val="800000"/>
          </a:solidFill>
          <a:ln w="9525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87AD4B48-C621-49DD-A5D2-4F255603ACE0}"/>
              </a:ext>
            </a:extLst>
          </p:cNvPr>
          <p:cNvSpPr/>
          <p:nvPr/>
        </p:nvSpPr>
        <p:spPr bwMode="auto">
          <a:xfrm>
            <a:off x="1552221" y="1866904"/>
            <a:ext cx="1559985" cy="274319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b="1" u="sng" dirty="0">
                <a:solidFill>
                  <a:schemeClr val="tx1"/>
                </a:solidFill>
                <a:latin typeface="Arial" charset="0"/>
              </a:rPr>
              <a:t>Android App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-Üye Ol</a:t>
            </a:r>
            <a:endParaRPr lang="tr-TR" dirty="0">
              <a:solidFill>
                <a:schemeClr val="tx1"/>
              </a:solidFill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-Giriş Yap</a:t>
            </a:r>
            <a:endParaRPr lang="tr-TR" dirty="0">
              <a:solidFill>
                <a:schemeClr val="tx1"/>
              </a:solidFill>
              <a:latin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-Güzergah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Bilgileri Gir</a:t>
            </a:r>
          </a:p>
          <a:p>
            <a:pPr algn="ctr" eaLnBrk="1" hangingPunct="1"/>
            <a:r>
              <a:rPr lang="tr-TR" dirty="0">
                <a:solidFill>
                  <a:schemeClr val="tx1"/>
                </a:solidFill>
                <a:latin typeface="Arial" charset="0"/>
              </a:rPr>
              <a:t>-Güzergah </a:t>
            </a:r>
          </a:p>
          <a:p>
            <a:pPr algn="ctr" eaLnBrk="1" hangingPunct="1"/>
            <a:r>
              <a:rPr lang="tr-TR" dirty="0">
                <a:solidFill>
                  <a:schemeClr val="tx1"/>
                </a:solidFill>
                <a:latin typeface="Arial" charset="0"/>
              </a:rPr>
              <a:t>hesapla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-Offline Harita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İndir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DF09F54D-BC02-4E9B-96ED-AF27AD5FDC97}"/>
              </a:ext>
            </a:extLst>
          </p:cNvPr>
          <p:cNvSpPr/>
          <p:nvPr/>
        </p:nvSpPr>
        <p:spPr bwMode="auto">
          <a:xfrm>
            <a:off x="4368800" y="1892304"/>
            <a:ext cx="2184400" cy="274319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b="1" u="sng" dirty="0">
                <a:solidFill>
                  <a:schemeClr val="tx1"/>
                </a:solidFill>
                <a:latin typeface="Arial" charset="0"/>
              </a:rPr>
              <a:t>Web Servis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dirty="0">
                <a:solidFill>
                  <a:schemeClr val="tx1"/>
                </a:solidFill>
                <a:latin typeface="Arial" charset="0"/>
              </a:rPr>
              <a:t>-Kullanıcıyı sisteme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dirty="0">
                <a:solidFill>
                  <a:schemeClr val="tx1"/>
                </a:solidFill>
                <a:latin typeface="Arial" charset="0"/>
              </a:rPr>
              <a:t> kaydet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-Kullanıcıya rota öner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F218C32C-74CD-4973-8330-3DACBC9BD8F8}"/>
              </a:ext>
            </a:extLst>
          </p:cNvPr>
          <p:cNvCxnSpPr/>
          <p:nvPr/>
        </p:nvCxnSpPr>
        <p:spPr bwMode="auto">
          <a:xfrm>
            <a:off x="3276600" y="3210278"/>
            <a:ext cx="914400" cy="0"/>
          </a:xfrm>
          <a:prstGeom prst="straightConnector1">
            <a:avLst/>
          </a:prstGeom>
          <a:solidFill>
            <a:srgbClr val="800000"/>
          </a:solidFill>
          <a:ln w="9525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E06C761B-5058-49D6-851B-F800C3CCAAFC}"/>
              </a:ext>
            </a:extLst>
          </p:cNvPr>
          <p:cNvCxnSpPr/>
          <p:nvPr/>
        </p:nvCxnSpPr>
        <p:spPr bwMode="auto">
          <a:xfrm flipH="1">
            <a:off x="3276600" y="3426179"/>
            <a:ext cx="914400" cy="0"/>
          </a:xfrm>
          <a:prstGeom prst="straightConnector1">
            <a:avLst/>
          </a:prstGeom>
          <a:solidFill>
            <a:srgbClr val="800000"/>
          </a:solidFill>
          <a:ln w="9525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Cylinder 15">
            <a:extLst>
              <a:ext uri="{FF2B5EF4-FFF2-40B4-BE49-F238E27FC236}">
                <a16:creationId xmlns:a16="http://schemas.microsoft.com/office/drawing/2014/main" xmlns="" id="{78748CE4-16A0-4C09-AC03-37CEEF578819}"/>
              </a:ext>
            </a:extLst>
          </p:cNvPr>
          <p:cNvSpPr/>
          <p:nvPr/>
        </p:nvSpPr>
        <p:spPr bwMode="auto">
          <a:xfrm>
            <a:off x="7673623" y="2448278"/>
            <a:ext cx="1244600" cy="1600200"/>
          </a:xfrm>
          <a:prstGeom prst="can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800" b="1" i="0" u="sng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latin typeface="Arial" charset="0"/>
              </a:rPr>
              <a:t>Veritabanı</a:t>
            </a:r>
            <a:endParaRPr kumimoji="0" lang="tr-TR" sz="1800" b="1" i="0" u="sng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Arial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E0C98D07-C3E8-4554-B3F5-20FAD5FACF41}"/>
              </a:ext>
            </a:extLst>
          </p:cNvPr>
          <p:cNvCxnSpPr/>
          <p:nvPr/>
        </p:nvCxnSpPr>
        <p:spPr bwMode="auto">
          <a:xfrm>
            <a:off x="6578600" y="3224389"/>
            <a:ext cx="914400" cy="0"/>
          </a:xfrm>
          <a:prstGeom prst="straightConnector1">
            <a:avLst/>
          </a:prstGeom>
          <a:solidFill>
            <a:srgbClr val="800000"/>
          </a:solidFill>
          <a:ln w="9525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4742AD2C-AB50-4717-8E47-F667F5B15B1E}"/>
              </a:ext>
            </a:extLst>
          </p:cNvPr>
          <p:cNvCxnSpPr/>
          <p:nvPr/>
        </p:nvCxnSpPr>
        <p:spPr bwMode="auto">
          <a:xfrm flipH="1">
            <a:off x="6578600" y="3426179"/>
            <a:ext cx="914400" cy="0"/>
          </a:xfrm>
          <a:prstGeom prst="straightConnector1">
            <a:avLst/>
          </a:prstGeom>
          <a:solidFill>
            <a:srgbClr val="800000"/>
          </a:solidFill>
          <a:ln w="9525" cap="flat" cmpd="sng" algn="ctr">
            <a:solidFill>
              <a:srgbClr val="8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33BC9-A97B-4126-BA35-8564686F79B6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Proje Gereksinimleri - 1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2400" y="914400"/>
            <a:ext cx="8001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000" dirty="0"/>
              <a:t>Kullanıcının belirlenen kısıtlamalara göre rotasının hesaplanması için gerekli algoritmanın geliştirilmesi</a:t>
            </a:r>
          </a:p>
          <a:p>
            <a:pPr lvl="1" eaLnBrk="1" hangingPunct="1"/>
            <a:r>
              <a:rPr lang="tr-TR" altLang="en-US" sz="1600" dirty="0"/>
              <a:t>NP-Hard problem :  </a:t>
            </a:r>
            <a:r>
              <a:rPr lang="tr-TR" sz="1600" dirty="0">
                <a:solidFill>
                  <a:srgbClr val="161616"/>
                </a:solidFill>
                <a:latin typeface="+mn-lt"/>
              </a:rPr>
              <a:t>Polinomsal zamanda bir çözümü olduğunu ispatlayamadığımız karar problemlerinin karmaşıklık sınıfıdır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Sezgisel yaklaşımlar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TSP (Travelling Salesman Problem)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Nearest Neighbor Algorithm, Genetic Algorithm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Kullanılacak programalama dili: JAVA</a:t>
            </a:r>
          </a:p>
          <a:p>
            <a:pPr eaLnBrk="1" hangingPunct="1"/>
            <a:r>
              <a:rPr lang="tr-TR" altLang="en-US" sz="2000" dirty="0">
                <a:solidFill>
                  <a:srgbClr val="161616"/>
                </a:solidFill>
                <a:latin typeface="+mn-lt"/>
              </a:rPr>
              <a:t>Kullanıcı dostu bir arayüze sahip olan bir mobil uygulamanın geliştirilmesi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Kullanıcı sisteme üye olabilir.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Kullanıcı gitmek istediği noktaların zaman, öncelik ve diğer şartlarını belirler.(Kısıtlamalar)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Kullanıcı daha önceden kaydettiği harita üzerinden offline olarak yolculuğunu takip edebilecek 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Kullanılacak işletim sistemi: Android</a:t>
            </a:r>
          </a:p>
          <a:p>
            <a:pPr lvl="1" eaLnBrk="1" hangingPunct="1"/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Kullanılacak teknolojiler: Firebase, SQLite, Harita Sağlayıcı (Google Maps, Mapbox, OSM, HereMap), Retrofit</a:t>
            </a:r>
          </a:p>
          <a:p>
            <a:pPr marL="457200" lvl="1" indent="0" eaLnBrk="1" hangingPunct="1">
              <a:buNone/>
            </a:pPr>
            <a:endParaRPr lang="tr-TR" altLang="en-US" sz="1600" dirty="0">
              <a:solidFill>
                <a:srgbClr val="161616"/>
              </a:solidFill>
              <a:latin typeface="+mn-lt"/>
            </a:endParaRPr>
          </a:p>
          <a:p>
            <a:pPr marL="457200" lvl="1" indent="0" eaLnBrk="1" hangingPunct="1">
              <a:buNone/>
            </a:pPr>
            <a:r>
              <a:rPr lang="tr-TR" altLang="en-US" sz="1600" dirty="0">
                <a:solidFill>
                  <a:srgbClr val="161616"/>
                </a:solidFill>
                <a:latin typeface="+mn-lt"/>
              </a:rPr>
              <a:t>								</a:t>
            </a:r>
            <a:endParaRPr lang="tr-TR" altLang="en-US" sz="1600" dirty="0">
              <a:latin typeface="+mn-lt"/>
            </a:endParaRPr>
          </a:p>
          <a:p>
            <a:pPr lvl="1" eaLnBrk="1" hangingPunct="1"/>
            <a:endParaRPr lang="tr-TR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9283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33BC9-A97B-4126-BA35-8564686F79B6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Proje Gereksinimleri - 2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6200" y="762000"/>
            <a:ext cx="7620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000" dirty="0"/>
              <a:t>Veritabanının </a:t>
            </a:r>
            <a:r>
              <a:rPr lang="tr-TR" altLang="en-US" sz="2000" dirty="0" smtClean="0"/>
              <a:t>oluşturulması</a:t>
            </a:r>
          </a:p>
          <a:p>
            <a:pPr lvl="1" eaLnBrk="1" hangingPunct="1"/>
            <a:r>
              <a:rPr lang="tr-TR" altLang="en-US" sz="1600" dirty="0" smtClean="0"/>
              <a:t>Veritabanı tasarımı yapılacak</a:t>
            </a:r>
            <a:endParaRPr lang="tr-TR" altLang="en-US" sz="1600" dirty="0"/>
          </a:p>
          <a:p>
            <a:pPr lvl="1" eaLnBrk="1" hangingPunct="1"/>
            <a:r>
              <a:rPr lang="tr-TR" altLang="en-US" sz="1600" dirty="0"/>
              <a:t>Veritabanı kullanıcı bilgilerini ve buna bağlı olarak kullanıcıların kullandığı rotaları tutacak. Ayrıca log vs. gibi ihtiyaçlar için kullanılacak </a:t>
            </a:r>
          </a:p>
          <a:p>
            <a:pPr lvl="1" eaLnBrk="1" hangingPunct="1"/>
            <a:r>
              <a:rPr lang="tr-TR" altLang="en-US" sz="1600" dirty="0"/>
              <a:t>Kullanılacak veritabanı : SQL</a:t>
            </a:r>
          </a:p>
          <a:p>
            <a:pPr marL="0" indent="0" eaLnBrk="1" hangingPunct="1">
              <a:buNone/>
            </a:pPr>
            <a:endParaRPr lang="tr-TR" altLang="en-US" sz="2000" dirty="0"/>
          </a:p>
          <a:p>
            <a:pPr eaLnBrk="1" hangingPunct="1"/>
            <a:r>
              <a:rPr lang="tr-TR" altLang="en-US" sz="2000" dirty="0"/>
              <a:t>Kullanıcının üye olma, giriş yapma ve rotasının kaydedilmesi gibi durumlar için gerekli web servisin geliştirilmesi</a:t>
            </a:r>
          </a:p>
          <a:p>
            <a:pPr lvl="1" eaLnBrk="1" hangingPunct="1"/>
            <a:r>
              <a:rPr lang="tr-TR" altLang="en-US" sz="1600" dirty="0"/>
              <a:t>Servis sayesinde kullanıcı sisteme giriş yapabilecek.</a:t>
            </a:r>
          </a:p>
          <a:p>
            <a:pPr lvl="1" eaLnBrk="1" hangingPunct="1"/>
            <a:r>
              <a:rPr lang="tr-TR" altLang="en-US" sz="1600" dirty="0"/>
              <a:t>Kullanıcının seçtiği rota ve kullandığı rota veritabanına kaydedilir. </a:t>
            </a:r>
          </a:p>
          <a:p>
            <a:pPr lvl="1" eaLnBrk="1" hangingPunct="1"/>
            <a:r>
              <a:rPr lang="tr-TR" altLang="en-US" sz="1600" dirty="0"/>
              <a:t>Kullanıcıya daha önce benzer rotaları kullanan kullanıcıların rotaları tavsiye edilir.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Başarı Kriterleri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7848600" cy="4572000"/>
          </a:xfrm>
        </p:spPr>
        <p:txBody>
          <a:bodyPr/>
          <a:lstStyle/>
          <a:p>
            <a:pPr eaLnBrk="1" hangingPunct="1"/>
            <a:r>
              <a:rPr lang="tr-TR" altLang="en-US" dirty="0"/>
              <a:t>Başarı kriterleri </a:t>
            </a:r>
          </a:p>
          <a:p>
            <a:pPr lvl="1" eaLnBrk="1" hangingPunct="1"/>
            <a:r>
              <a:rPr lang="tr-TR" altLang="en-US" dirty="0"/>
              <a:t>Geliştirilen algoritma Brute Force yöntmelere göre </a:t>
            </a:r>
            <a:r>
              <a:rPr lang="tr-TR" altLang="en-US" b="1" i="1" u="sng" dirty="0"/>
              <a:t>%30 daha az maliyet</a:t>
            </a:r>
            <a:r>
              <a:rPr lang="tr-TR" altLang="en-US" dirty="0"/>
              <a:t> ile rota hesaplamayı amaçlamaktadır.</a:t>
            </a:r>
          </a:p>
          <a:p>
            <a:pPr lvl="1" eaLnBrk="1" hangingPunct="1"/>
            <a:r>
              <a:rPr lang="tr-TR" altLang="en-US" dirty="0"/>
              <a:t>Geliştirlen algoritma ile oluşturulan güzergah ile kullanıcının belirleyebileceği </a:t>
            </a:r>
            <a:r>
              <a:rPr lang="tr-TR" altLang="en-US" b="1" i="1" u="sng" dirty="0"/>
              <a:t>en az 3 kısıtlama </a:t>
            </a:r>
            <a:r>
              <a:rPr lang="tr-TR" altLang="en-US" dirty="0"/>
              <a:t>ve  </a:t>
            </a:r>
            <a:r>
              <a:rPr lang="tr-TR" altLang="en-US" b="1" i="1" u="sng" dirty="0"/>
              <a:t>kısıtlamalara %80 oranında uygunluk </a:t>
            </a:r>
            <a:r>
              <a:rPr lang="tr-TR" altLang="en-US" dirty="0"/>
              <a:t>sağlamayı amaçlamaktadır.</a:t>
            </a:r>
          </a:p>
          <a:p>
            <a:pPr lvl="1" eaLnBrk="1" hangingPunct="1"/>
            <a:r>
              <a:rPr lang="tr-TR" altLang="en-US" dirty="0"/>
              <a:t>Kullanıcılara İstanbul analdolu yakası için her bir güzegah için </a:t>
            </a:r>
            <a:r>
              <a:rPr lang="tr-TR" altLang="en-US" b="1" i="1" u="sng" dirty="0"/>
              <a:t>en az 2 rota </a:t>
            </a:r>
            <a:r>
              <a:rPr lang="tr-TR" altLang="en-US" dirty="0"/>
              <a:t>seçeneği sunabilecek verinin toplanması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D8AB0A-D51F-497D-9892-E75B8E184080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tr-TR" altLang="en-US" sz="1000">
              <a:solidFill>
                <a:srgbClr val="FFFFE5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/>
              <a:t>Kaynaklar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HelveticaNeue"/>
              </a:rPr>
              <a:t>Ahmed, Z.H., Pandit, S.N.N. The Travelling Salesman Problem with Precedence Constraints. </a:t>
            </a:r>
            <a:r>
              <a:rPr lang="en-US" sz="1800" i="1" dirty="0">
                <a:solidFill>
                  <a:srgbClr val="262626"/>
                </a:solidFill>
                <a:latin typeface="HelveticaNeue-Italic"/>
              </a:rPr>
              <a:t>OPSEARCH</a:t>
            </a:r>
            <a:r>
              <a:rPr lang="en-US" sz="1800" i="0" dirty="0">
                <a:solidFill>
                  <a:srgbClr val="262626"/>
                </a:solidFill>
                <a:latin typeface="HelveticaNeue"/>
              </a:rPr>
              <a:t> </a:t>
            </a:r>
            <a:r>
              <a:rPr lang="en-US" sz="1800" b="1" i="0" dirty="0">
                <a:solidFill>
                  <a:srgbClr val="262626"/>
                </a:solidFill>
                <a:latin typeface="HelveticaNeue-Bold"/>
              </a:rPr>
              <a:t>38, </a:t>
            </a:r>
            <a:r>
              <a:rPr lang="en-US" sz="1800" b="0" i="0" dirty="0">
                <a:solidFill>
                  <a:srgbClr val="262626"/>
                </a:solidFill>
                <a:latin typeface="HelveticaNeue"/>
              </a:rPr>
              <a:t>299–318 (2001). </a:t>
            </a:r>
            <a:r>
              <a:rPr lang="en-US" sz="1800" b="0" i="0" dirty="0">
                <a:solidFill>
                  <a:srgbClr val="262626"/>
                </a:solidFill>
                <a:latin typeface="HelveticaNeue"/>
                <a:hlinkClick r:id="rId2"/>
              </a:rPr>
              <a:t>https://doi.org/10.1007/BF03398638</a:t>
            </a:r>
            <a:endParaRPr lang="tr-TR" sz="1800" b="0" i="0" dirty="0">
              <a:solidFill>
                <a:srgbClr val="262626"/>
              </a:solidFill>
              <a:latin typeface="HelveticaNeue"/>
            </a:endParaRPr>
          </a:p>
          <a:p>
            <a:pPr marL="514350" indent="-514350" eaLnBrk="1" hangingPunct="1">
              <a:buFontTx/>
              <a:buAutoNum type="arabicPeriod"/>
            </a:pPr>
            <a:endParaRPr lang="tr-TR" altLang="en-US" sz="1800" dirty="0">
              <a:solidFill>
                <a:srgbClr val="262626"/>
              </a:solidFill>
              <a:latin typeface="HelveticaNeue"/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tr-TR" altLang="en-US" sz="2000" dirty="0">
                <a:hlinkClick r:id="rId3"/>
              </a:rPr>
              <a:t>https://docs.mapbox.com/android/maps/overview</a:t>
            </a:r>
            <a:endParaRPr lang="tr-TR" altLang="en-US" sz="2000" dirty="0"/>
          </a:p>
          <a:p>
            <a:pPr marL="514350" indent="-514350" eaLnBrk="1" hangingPunct="1">
              <a:buFontTx/>
              <a:buAutoNum type="arabicPeriod"/>
            </a:pPr>
            <a:endParaRPr lang="tr-TR" altLang="en-US" sz="2000" dirty="0"/>
          </a:p>
          <a:p>
            <a:pPr marL="514350" indent="-514350" eaLnBrk="1" hangingPunct="1">
              <a:buFontTx/>
              <a:buAutoNum type="arabicPeriod"/>
            </a:pPr>
            <a:r>
              <a:rPr lang="tr-TR" sz="1800" b="1" dirty="0">
                <a:solidFill>
                  <a:srgbClr val="23323E"/>
                </a:solidFill>
                <a:latin typeface="RobotoSlab-Regular_Bold"/>
              </a:rPr>
              <a:t>Solving TSP using Genetic Algorithm and Nearest Neighbour Algorithm and their Comparison</a:t>
            </a:r>
            <a:r>
              <a:rPr lang="tr-TR" sz="1800" b="0" u="sng" dirty="0">
                <a:solidFill>
                  <a:srgbClr val="435660"/>
                </a:solidFill>
                <a:latin typeface="Roboto-Regular"/>
                <a:hlinkClick r:id="rId4"/>
              </a:rPr>
              <a:t>Khushboo Arora</a:t>
            </a:r>
            <a:r>
              <a:rPr lang="tr-TR" sz="1800" b="0" u="sng" dirty="0">
                <a:solidFill>
                  <a:srgbClr val="798084"/>
                </a:solidFill>
                <a:latin typeface="Roboto-Regular"/>
                <a:hlinkClick r:id="rId4"/>
              </a:rPr>
              <a:t>, </a:t>
            </a:r>
            <a:r>
              <a:rPr lang="tr-TR" sz="1800" b="0" u="sng" dirty="0">
                <a:solidFill>
                  <a:srgbClr val="435660"/>
                </a:solidFill>
                <a:latin typeface="Roboto-Regular"/>
                <a:hlinkClick r:id="rId5"/>
              </a:rPr>
              <a:t>Samiksha Agarwal</a:t>
            </a:r>
            <a:r>
              <a:rPr lang="tr-TR" sz="1800" b="0" u="sng" dirty="0">
                <a:solidFill>
                  <a:srgbClr val="798084"/>
                </a:solidFill>
                <a:latin typeface="Roboto-Regular"/>
                <a:hlinkClick r:id="rId5"/>
              </a:rPr>
              <a:t>, </a:t>
            </a:r>
            <a:r>
              <a:rPr lang="tr-TR" sz="1800" b="0" u="sng">
                <a:solidFill>
                  <a:srgbClr val="435660"/>
                </a:solidFill>
                <a:latin typeface="Roboto-Regular"/>
                <a:hlinkClick r:id="rId6"/>
              </a:rPr>
              <a:t>Rohit Tanwar</a:t>
            </a:r>
            <a:endParaRPr lang="tr-TR" sz="1800" b="0" u="sng" dirty="0">
              <a:solidFill>
                <a:srgbClr val="435660"/>
              </a:solidFill>
              <a:latin typeface="Roboto-Regular"/>
            </a:endParaRPr>
          </a:p>
          <a:p>
            <a:pPr marL="514350" indent="-514350" eaLnBrk="1" hangingPunct="1">
              <a:buFontTx/>
              <a:buAutoNum type="arabicPeriod"/>
            </a:pPr>
            <a:r>
              <a:rPr lang="tr-TR" sz="1800" b="1" dirty="0">
                <a:solidFill>
                  <a:srgbClr val="23323E"/>
                </a:solidFill>
                <a:latin typeface="RobotoSlab-Regular_Bold"/>
              </a:rPr>
              <a:t>Solving TSP using Genetic Algorithm and Nearest Neighbour Algorithm and their Comparison</a:t>
            </a:r>
            <a:r>
              <a:rPr lang="tr-TR" sz="1800" b="0" u="sng" dirty="0">
                <a:solidFill>
                  <a:srgbClr val="435660"/>
                </a:solidFill>
                <a:latin typeface="Roboto-Regular"/>
                <a:hlinkClick r:id="rId4"/>
              </a:rPr>
              <a:t>Khushboo Arora</a:t>
            </a:r>
            <a:r>
              <a:rPr lang="tr-TR" sz="1800" b="0" u="sng" dirty="0">
                <a:solidFill>
                  <a:srgbClr val="798084"/>
                </a:solidFill>
                <a:latin typeface="Roboto-Regular"/>
                <a:hlinkClick r:id="rId4"/>
              </a:rPr>
              <a:t>, </a:t>
            </a:r>
            <a:r>
              <a:rPr lang="tr-TR" sz="1800" b="0" u="sng" dirty="0">
                <a:solidFill>
                  <a:srgbClr val="435660"/>
                </a:solidFill>
                <a:latin typeface="Roboto-Regular"/>
                <a:hlinkClick r:id="rId5"/>
              </a:rPr>
              <a:t>Samiksha Agarwal</a:t>
            </a:r>
            <a:r>
              <a:rPr lang="tr-TR" sz="1800" b="0" u="sng" dirty="0">
                <a:solidFill>
                  <a:srgbClr val="798084"/>
                </a:solidFill>
                <a:latin typeface="Roboto-Regular"/>
                <a:hlinkClick r:id="rId5"/>
              </a:rPr>
              <a:t>, </a:t>
            </a:r>
            <a:r>
              <a:rPr lang="tr-TR" sz="1800" b="0" u="sng" dirty="0">
                <a:solidFill>
                  <a:srgbClr val="435660"/>
                </a:solidFill>
                <a:latin typeface="Roboto-Regular"/>
                <a:hlinkClick r:id="rId6"/>
              </a:rPr>
              <a:t>Rohit Tanwar</a:t>
            </a:r>
            <a:r>
              <a:rPr lang="tr-TR" altLang="en-US" sz="2000" dirty="0"/>
              <a:t/>
            </a:r>
            <a:br>
              <a:rPr lang="tr-TR" altLang="en-US" sz="2000" dirty="0"/>
            </a:br>
            <a:r>
              <a:rPr lang="tr-TR" alt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</TotalTime>
  <Words>432</Words>
  <Application>Microsoft Office PowerPoint</Application>
  <PresentationFormat>Ekran Gösterisi (4:3)</PresentationFormat>
  <Paragraphs>87</Paragraphs>
  <Slides>8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Default Design</vt:lpstr>
      <vt:lpstr>Travel Route Optimization</vt:lpstr>
      <vt:lpstr>İçerik</vt:lpstr>
      <vt:lpstr>Proje Şeması ve Tanımı</vt:lpstr>
      <vt:lpstr>Proje Tasarım Planı</vt:lpstr>
      <vt:lpstr>Proje Gereksinimleri - 1</vt:lpstr>
      <vt:lpstr>Proje Gereksinimleri - 2</vt:lpstr>
      <vt:lpstr>Başarı Kriterleri</vt:lpstr>
      <vt:lpstr>Kaynaklar</vt:lpstr>
    </vt:vector>
  </TitlesOfParts>
  <Company>gyte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creator>inanc tahrali</dc:creator>
  <cp:lastModifiedBy>Windows Kullanıcısı</cp:lastModifiedBy>
  <cp:revision>168</cp:revision>
  <dcterms:created xsi:type="dcterms:W3CDTF">2007-08-26T20:02:13Z</dcterms:created>
  <dcterms:modified xsi:type="dcterms:W3CDTF">2020-10-27T16:02:09Z</dcterms:modified>
</cp:coreProperties>
</file>